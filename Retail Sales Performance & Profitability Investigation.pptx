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74" r:id="rId3"/>
    <p:sldId id="260" r:id="rId4"/>
    <p:sldId id="262" r:id="rId5"/>
    <p:sldId id="258" r:id="rId6"/>
    <p:sldId id="264" r:id="rId7"/>
    <p:sldId id="291" r:id="rId8"/>
    <p:sldId id="293" r:id="rId9"/>
    <p:sldId id="290" r:id="rId10"/>
    <p:sldId id="276" r:id="rId11"/>
    <p:sldId id="294" r:id="rId12"/>
    <p:sldId id="292" r:id="rId13"/>
    <p:sldId id="296" r:id="rId14"/>
    <p:sldId id="295" r:id="rId15"/>
    <p:sldId id="297" r:id="rId16"/>
    <p:sldId id="298" r:id="rId17"/>
    <p:sldId id="299" r:id="rId18"/>
    <p:sldId id="301" r:id="rId19"/>
    <p:sldId id="300" r:id="rId20"/>
    <p:sldId id="267" r:id="rId21"/>
    <p:sldId id="277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4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6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6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3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1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7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1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4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3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20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06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21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16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72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5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1E768E0-F796-417F-BD63-DF2F0CDB316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217FDBC-F33F-4C9D-8822-7CB1C672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1875-EBE9-E19C-9AC7-6510C0835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774" y="1204686"/>
            <a:ext cx="9939454" cy="3106056"/>
          </a:xfrm>
        </p:spPr>
        <p:txBody>
          <a:bodyPr/>
          <a:lstStyle/>
          <a:p>
            <a:pPr algn="ctr"/>
            <a:r>
              <a:rPr lang="en-US" sz="6000" b="1" kern="1800" spc="-15" dirty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</a:rPr>
              <a:t>Retail Sales Performance and Profitability Investigation</a:t>
            </a:r>
            <a:endParaRPr lang="en-US" sz="199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847EA-980C-E00E-9976-F80931D36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8100" y="4739822"/>
            <a:ext cx="4253043" cy="111078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SAHEED </a:t>
            </a:r>
            <a:r>
              <a:rPr lang="en-US" sz="2400" b="1" dirty="0" err="1">
                <a:solidFill>
                  <a:schemeClr val="bg1"/>
                </a:solidFill>
              </a:rPr>
              <a:t>oLAYINKA</a:t>
            </a:r>
            <a:r>
              <a:rPr lang="en-US" sz="2400" b="1" dirty="0">
                <a:solidFill>
                  <a:schemeClr val="bg1"/>
                </a:solidFill>
              </a:rPr>
              <a:t> Adebiyi</a:t>
            </a:r>
          </a:p>
          <a:p>
            <a:r>
              <a:rPr lang="en-US" b="1" dirty="0">
                <a:solidFill>
                  <a:schemeClr val="bg1"/>
                </a:solidFill>
                <a:latin typeface="Lucida Handwriting" panose="03010101010101010101" pitchFamily="66" charset="0"/>
              </a:rPr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2465492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5C5F-10BF-4A9E-C5D9-AAB459A0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AE4C-BA4E-6909-5B25-30CE190C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Problem Statement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B77FB-A1DD-D7A5-4FD5-3567202D4933}"/>
              </a:ext>
            </a:extLst>
          </p:cNvPr>
          <p:cNvSpPr txBox="1"/>
          <p:nvPr/>
        </p:nvSpPr>
        <p:spPr>
          <a:xfrm>
            <a:off x="358713" y="2210574"/>
            <a:ext cx="11455916" cy="4479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This comprehensive analysis addresses some critical business questions raised by leadership regarding retail sales performance, profitability, customer behavior, and operational efficiency which are listed below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cs typeface="Times New Roman" panose="02020603050405020304" pitchFamily="18" charset="0"/>
              </a:rPr>
              <a:t>There is limited visibility into true product profitability, making it difficult to identify which items genuinely drive profit versus volume.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cs typeface="Times New Roman" panose="02020603050405020304" pitchFamily="18" charset="0"/>
              </a:rPr>
              <a:t>Despite stable sales volume, the business is experiencing fluctuating revenue and inconsistent profit margins across multiple product categories.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cs typeface="Times New Roman" panose="02020603050405020304" pitchFamily="18" charset="0"/>
              </a:rPr>
              <a:t>Customer behavior patterns and lifetime value are unclear, preventing effective identification of the most valuable customer segments.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cs typeface="Times New Roman" panose="02020603050405020304" pitchFamily="18" charset="0"/>
              </a:rPr>
              <a:t>The organization lacks insight into seasonal and time-based sales trends, reducing its ability to optimize inventory and promotions.</a:t>
            </a:r>
          </a:p>
          <a:p>
            <a:pPr marL="285750" indent="-28575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cs typeface="Times New Roman" panose="02020603050405020304" pitchFamily="18" charset="0"/>
              </a:rPr>
              <a:t>These gaps hinder data-driven decision-making, impacting pricing strategies, customer retention, and overall business performance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28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FD40D-EAFA-6374-5DB3-04671836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7359A-3997-0174-DF59-9BE855765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77" y="2175080"/>
            <a:ext cx="11316980" cy="456680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1600" b="1" dirty="0"/>
              <a:t>To investigate fluctuations in revenue, customer behavior, and product profitability while identifying opportunities for improved margins, customer retention, and operational efficiency.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cs typeface="Times New Roman" panose="02020603050405020304" pitchFamily="18" charset="0"/>
              </a:rPr>
              <a:t>Identify whether our revenue growth is translating into real profit or being eroded by high costs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cs typeface="Times New Roman" panose="02020603050405020304" pitchFamily="18" charset="0"/>
              </a:rPr>
              <a:t>Analyze the categories with high sales volume that also deliver strong profitability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cs typeface="Times New Roman" panose="02020603050405020304" pitchFamily="18" charset="0"/>
              </a:rPr>
              <a:t>Study which customers drive the most revenue and repeat purchases.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cs typeface="Times New Roman" panose="02020603050405020304" pitchFamily="18" charset="0"/>
              </a:rPr>
              <a:t>Examine and tailor promotions and product offerings to the right demographic groups.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cs typeface="Times New Roman" panose="02020603050405020304" pitchFamily="18" charset="0"/>
              </a:rPr>
              <a:t>To determine the sales trend over time</a:t>
            </a:r>
          </a:p>
          <a:p>
            <a:pPr algn="just">
              <a:lnSpc>
                <a:spcPct val="170000"/>
              </a:lnSpc>
            </a:pPr>
            <a:r>
              <a:rPr lang="en-US" sz="1600" b="1" dirty="0">
                <a:cs typeface="Times New Roman" panose="02020603050405020304" pitchFamily="18" charset="0"/>
              </a:rPr>
              <a:t>To determine whether customers typically make bulk purchases or small, frequent ones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55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4F96-4C14-F0B4-458F-380AD2E4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Overview of data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99D27-997F-427C-256E-1675201C9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169" y="2448599"/>
            <a:ext cx="10522859" cy="299130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ts val="2100"/>
              </a:lnSpc>
              <a:spcBef>
                <a:spcPts val="1870"/>
              </a:spcBef>
              <a:spcAft>
                <a:spcPts val="0"/>
              </a:spcAft>
              <a:buFont typeface="Georgia" panose="02040502050405020303" pitchFamily="18" charset="0"/>
              <a:buChar char="-"/>
            </a:pPr>
            <a:r>
              <a:rPr lang="en-US" b="1" kern="0" spc="-5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data consist of 2,000 rows and 12 columns which  is clean without duplicates and empty spaces except for creating new conditional columns</a:t>
            </a:r>
            <a:endParaRPr lang="en-US" b="1" kern="0" spc="-5" dirty="0">
              <a:solidFill>
                <a:srgbClr val="242424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ts val="2100"/>
              </a:lnSpc>
              <a:spcBef>
                <a:spcPts val="1870"/>
              </a:spcBef>
              <a:buFont typeface="Georgia" panose="02040502050405020303" pitchFamily="18" charset="0"/>
              <a:buChar char="-"/>
            </a:pPr>
            <a:r>
              <a:rPr lang="en-US" b="1" dirty="0">
                <a:cs typeface="Times New Roman" panose="02020603050405020304" pitchFamily="18" charset="0"/>
              </a:rPr>
              <a:t>Dataset main columns include: </a:t>
            </a:r>
            <a:r>
              <a:rPr lang="en-US" b="1" dirty="0" err="1">
                <a:cs typeface="Times New Roman" panose="02020603050405020304" pitchFamily="18" charset="0"/>
              </a:rPr>
              <a:t>transaction_id</a:t>
            </a:r>
            <a:r>
              <a:rPr lang="en-US" b="1" dirty="0">
                <a:cs typeface="Times New Roman" panose="02020603050405020304" pitchFamily="18" charset="0"/>
              </a:rPr>
              <a:t>, </a:t>
            </a:r>
            <a:r>
              <a:rPr lang="en-US" b="1" dirty="0" err="1">
                <a:cs typeface="Times New Roman" panose="02020603050405020304" pitchFamily="18" charset="0"/>
              </a:rPr>
              <a:t>customer_id</a:t>
            </a:r>
            <a:r>
              <a:rPr lang="en-US" b="1" dirty="0">
                <a:cs typeface="Times New Roman" panose="02020603050405020304" pitchFamily="18" charset="0"/>
              </a:rPr>
              <a:t>, gender, age, category, quantity, </a:t>
            </a:r>
            <a:r>
              <a:rPr lang="en-US" b="1" dirty="0" err="1">
                <a:cs typeface="Times New Roman" panose="02020603050405020304" pitchFamily="18" charset="0"/>
              </a:rPr>
              <a:t>price_per_unit</a:t>
            </a:r>
            <a:r>
              <a:rPr lang="en-US" b="1" dirty="0">
                <a:cs typeface="Times New Roman" panose="02020603050405020304" pitchFamily="18" charset="0"/>
              </a:rPr>
              <a:t>, </a:t>
            </a:r>
            <a:r>
              <a:rPr lang="en-US" b="1" dirty="0" err="1">
                <a:cs typeface="Times New Roman" panose="02020603050405020304" pitchFamily="18" charset="0"/>
              </a:rPr>
              <a:t>total_sale</a:t>
            </a:r>
            <a:r>
              <a:rPr lang="en-US" b="1" dirty="0">
                <a:cs typeface="Times New Roman" panose="02020603050405020304" pitchFamily="18" charset="0"/>
              </a:rPr>
              <a:t>, cogs, </a:t>
            </a:r>
            <a:r>
              <a:rPr lang="en-US" b="1" dirty="0" err="1">
                <a:cs typeface="Times New Roman" panose="02020603050405020304" pitchFamily="18" charset="0"/>
              </a:rPr>
              <a:t>total_cost</a:t>
            </a:r>
            <a:r>
              <a:rPr lang="en-US" b="1" dirty="0">
                <a:cs typeface="Times New Roman" panose="02020603050405020304" pitchFamily="18" charset="0"/>
              </a:rPr>
              <a:t>, </a:t>
            </a:r>
            <a:r>
              <a:rPr lang="en-US" b="1" dirty="0" err="1">
                <a:cs typeface="Times New Roman" panose="02020603050405020304" pitchFamily="18" charset="0"/>
              </a:rPr>
              <a:t>sale_date</a:t>
            </a:r>
            <a:r>
              <a:rPr lang="en-US" b="1" dirty="0">
                <a:cs typeface="Times New Roman" panose="02020603050405020304" pitchFamily="18" charset="0"/>
              </a:rPr>
              <a:t>, </a:t>
            </a:r>
            <a:r>
              <a:rPr lang="en-US" b="1" dirty="0" err="1">
                <a:cs typeface="Times New Roman" panose="02020603050405020304" pitchFamily="18" charset="0"/>
              </a:rPr>
              <a:t>sale_time</a:t>
            </a:r>
            <a:endParaRPr lang="en-US" sz="1800" b="1" kern="0" spc="-5" dirty="0">
              <a:solidFill>
                <a:srgbClr val="242424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ts val="2100"/>
              </a:lnSpc>
              <a:spcBef>
                <a:spcPts val="1870"/>
              </a:spcBef>
              <a:buFont typeface="Georgia" panose="02040502050405020303" pitchFamily="18" charset="0"/>
              <a:buChar char="-"/>
            </a:pPr>
            <a:endParaRPr lang="en-US" sz="1800" b="1" kern="0" spc="-5" dirty="0">
              <a:solidFill>
                <a:srgbClr val="242424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36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2816-C6A2-EAD2-E3B1-BF76A0574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Outline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46EB-63E9-C19F-F24A-F48B347FE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803332" cy="1373414"/>
          </a:xfrm>
        </p:spPr>
        <p:txBody>
          <a:bodyPr/>
          <a:lstStyle/>
          <a:p>
            <a:pPr marL="0" marR="0">
              <a:lnSpc>
                <a:spcPts val="2100"/>
              </a:lnSpc>
              <a:spcBef>
                <a:spcPts val="1870"/>
              </a:spcBef>
              <a:spcAft>
                <a:spcPts val="0"/>
              </a:spcAft>
            </a:pPr>
            <a:r>
              <a:rPr lang="en-US" sz="1800" kern="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tool I used for the entire analysis process is Structured Query language (SQL)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63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D184-0787-9EA0-43D2-51707896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39FFE-7CF6-A5C9-EA80-680A6197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39" t="22633" r="22618" b="30361"/>
          <a:stretch>
            <a:fillRect/>
          </a:stretch>
        </p:blipFill>
        <p:spPr>
          <a:xfrm>
            <a:off x="1373642" y="2575408"/>
            <a:ext cx="8940800" cy="380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88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DAE0-91B3-D6B8-8B23-688F687F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0CE9-FF42-23DE-C70F-20EA32C7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solidFill>
                  <a:schemeClr val="bg1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D9609-D742-064E-6403-829A5151FA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90" t="37243" r="30714" b="29725"/>
          <a:stretch>
            <a:fillRect/>
          </a:stretch>
        </p:blipFill>
        <p:spPr>
          <a:xfrm>
            <a:off x="1154953" y="2656114"/>
            <a:ext cx="9819775" cy="343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9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AA0E1-1DC7-0D18-ABBD-51AC9A6B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C2E0-DA92-94A1-A26C-5872AF35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solidFill>
                  <a:schemeClr val="bg1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F8E70-ED39-426B-79BC-4CDD50B7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6" t="32161" r="35119" b="25067"/>
          <a:stretch>
            <a:fillRect/>
          </a:stretch>
        </p:blipFill>
        <p:spPr>
          <a:xfrm>
            <a:off x="1686766" y="2452915"/>
            <a:ext cx="8929573" cy="413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97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56F1-9303-60CF-7B99-60ED744C1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70E0-D23E-7373-40CE-B6067F15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solidFill>
                  <a:schemeClr val="bg1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A0401-1412-444E-330B-185B16E7AD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47" t="24494" r="38929" b="14180"/>
          <a:stretch>
            <a:fillRect/>
          </a:stretch>
        </p:blipFill>
        <p:spPr>
          <a:xfrm>
            <a:off x="2046514" y="2058004"/>
            <a:ext cx="6879771" cy="467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5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E418-9DFC-9DE6-D3E0-A7DA033B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14BB-53DD-E7DC-09CE-EA852AA4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DE312-11F5-E034-DBE4-E53498E87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5" t="24494" r="45595" b="28032"/>
          <a:stretch>
            <a:fillRect/>
          </a:stretch>
        </p:blipFill>
        <p:spPr>
          <a:xfrm>
            <a:off x="2162628" y="2348290"/>
            <a:ext cx="7474858" cy="430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95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5D2B9-ED4D-CE17-F04C-AC41F2DC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A820-ED63-CA9D-F37F-1524A267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35C94-20D2-AED4-80ED-56A8E8A7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20" t="19456" r="35713" b="16598"/>
          <a:stretch>
            <a:fillRect/>
          </a:stretch>
        </p:blipFill>
        <p:spPr>
          <a:xfrm>
            <a:off x="1944913" y="2235200"/>
            <a:ext cx="7837715" cy="44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97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DBADC-5D1E-44D4-0793-4ABA5A74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088D-279A-BCA5-FCF6-4EFED87A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6F033-B0E0-9195-96BA-2AADD4A14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33" t="20304" r="23095" b="12574"/>
          <a:stretch>
            <a:fillRect/>
          </a:stretch>
        </p:blipFill>
        <p:spPr>
          <a:xfrm>
            <a:off x="1154954" y="1959429"/>
            <a:ext cx="9672703" cy="493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96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4EC5-B4AE-A9B0-46BF-785C2835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4126-EECD-58D5-B170-B16BCE22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3B514-C636-47AB-9999-2C9F06453F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82" t="35972" r="32023" b="22526"/>
          <a:stretch>
            <a:fillRect/>
          </a:stretch>
        </p:blipFill>
        <p:spPr>
          <a:xfrm>
            <a:off x="1545771" y="2510971"/>
            <a:ext cx="9100457" cy="39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96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8C30-3009-B81B-69AB-C3F54D7D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BEF5-AA36-6E88-81FA-D3BCE44B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</a:t>
            </a:r>
            <a:r>
              <a:rPr lang="en-US" sz="2800" b="1" kern="100" dirty="0">
                <a:solidFill>
                  <a:schemeClr val="bg1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AD500-D9BE-E96F-1EB6-62DBEB4438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33" t="24494" r="28333" b="25279"/>
          <a:stretch>
            <a:fillRect/>
          </a:stretch>
        </p:blipFill>
        <p:spPr>
          <a:xfrm>
            <a:off x="1596571" y="2306604"/>
            <a:ext cx="8998857" cy="455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25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F34FC-BEE0-6FE8-2B01-4AE99F287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8749-F17F-6EBC-57AF-460C0FEB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0FC5-AFD4-A8CF-F87D-9F2A77DC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76" t="19879" r="48095" b="11939"/>
          <a:stretch>
            <a:fillRect/>
          </a:stretch>
        </p:blipFill>
        <p:spPr>
          <a:xfrm>
            <a:off x="1154954" y="1988458"/>
            <a:ext cx="4441372" cy="467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FAC63-7AB7-E45E-AE96-8055C2DEE7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95" t="60323" r="46548" b="11939"/>
          <a:stretch>
            <a:fillRect/>
          </a:stretch>
        </p:blipFill>
        <p:spPr>
          <a:xfrm>
            <a:off x="6255656" y="4470398"/>
            <a:ext cx="4615543" cy="190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24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380E-95B1-20EE-0030-54B5CD74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FA26-E0DE-46CD-B2F1-7677EDDC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96F62-4057-8146-6E95-C644A677E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5" t="19668" r="46071" b="22738"/>
          <a:stretch>
            <a:fillRect/>
          </a:stretch>
        </p:blipFill>
        <p:spPr>
          <a:xfrm>
            <a:off x="2406262" y="2235200"/>
            <a:ext cx="5924938" cy="445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66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CFE5-5094-8457-2BA3-081A7A25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FD09A-6628-1AC0-25D4-21177CE3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2023675" cy="706964"/>
          </a:xfrm>
        </p:spPr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0313C-3BD8-CFC2-2FD8-AC9536E7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39" t="22632" r="47976" b="32690"/>
          <a:stretch>
            <a:fillRect/>
          </a:stretch>
        </p:blipFill>
        <p:spPr>
          <a:xfrm>
            <a:off x="2409371" y="2191659"/>
            <a:ext cx="6589485" cy="44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3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65F8-8CC5-52B7-F97D-AB69F460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6C42-E510-BA99-A165-B78C36BD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2023675" cy="706964"/>
          </a:xfrm>
        </p:spPr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F5EBB-8721-13BE-F633-96124AE8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1" t="19646" r="35678" b="16285"/>
          <a:stretch>
            <a:fillRect/>
          </a:stretch>
        </p:blipFill>
        <p:spPr>
          <a:xfrm>
            <a:off x="1937288" y="1534332"/>
            <a:ext cx="7076085" cy="520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18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F70E-393B-14E1-EF8F-C193E69E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2033-1A03-4DF7-7548-B2714DC0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2023675" cy="706964"/>
          </a:xfrm>
        </p:spPr>
        <p:txBody>
          <a:bodyPr/>
          <a:lstStyle/>
          <a:p>
            <a:r>
              <a:rPr lang="en-US" sz="2800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CE705-29F0-2799-ACB8-3793EBC2B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09" t="22359" r="36059" b="27899"/>
          <a:stretch>
            <a:fillRect/>
          </a:stretch>
        </p:blipFill>
        <p:spPr>
          <a:xfrm>
            <a:off x="2030277" y="2324745"/>
            <a:ext cx="7470184" cy="431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4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9463E-6164-1CD4-6A68-7D485D53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81" y="2409974"/>
            <a:ext cx="11420662" cy="40633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Key Findings Summary</a:t>
            </a:r>
          </a:p>
          <a:p>
            <a:pPr lvl="0" algn="just">
              <a:lnSpc>
                <a:spcPct val="150000"/>
              </a:lnSpc>
            </a:pPr>
            <a:r>
              <a:rPr lang="en-US" b="1" dirty="0"/>
              <a:t>Established clear investment priorities based on profit margins and transaction volumes</a:t>
            </a:r>
          </a:p>
          <a:p>
            <a:pPr lvl="0" algn="just">
              <a:lnSpc>
                <a:spcPct val="150000"/>
              </a:lnSpc>
            </a:pPr>
            <a:r>
              <a:rPr lang="en-US" b="1" dirty="0"/>
              <a:t>Segmented customers by lifetime value and identified top revenue generators for retention programs</a:t>
            </a:r>
          </a:p>
          <a:p>
            <a:pPr lvl="0" algn="just">
              <a:lnSpc>
                <a:spcPct val="150000"/>
              </a:lnSpc>
            </a:pPr>
            <a:r>
              <a:rPr lang="en-US" b="1" dirty="0"/>
              <a:t>Revealed distinct purchasing patterns across age groups and genders for targeted marketing</a:t>
            </a:r>
          </a:p>
          <a:p>
            <a:pPr lvl="0" algn="just">
              <a:lnSpc>
                <a:spcPct val="150000"/>
              </a:lnSpc>
            </a:pPr>
            <a:r>
              <a:rPr lang="en-US" b="1" dirty="0"/>
              <a:t>Identified peak sales periods for optimized staffing and inventory management</a:t>
            </a:r>
          </a:p>
          <a:p>
            <a:pPr lvl="0" algn="just">
              <a:lnSpc>
                <a:spcPct val="150000"/>
              </a:lnSpc>
            </a:pPr>
            <a:r>
              <a:rPr lang="en-US" b="1" dirty="0"/>
              <a:t>Analyzed quantity patterns to inform inventory planning and promotional strategies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40ADD2-0757-1201-9894-AF60FA0F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04924" cy="706964"/>
          </a:xfrm>
        </p:spPr>
        <p:txBody>
          <a:bodyPr/>
          <a:lstStyle/>
          <a:p>
            <a:r>
              <a:rPr lang="en-US" b="1" dirty="0"/>
              <a:t>Key Finding of Performance Dashboard</a:t>
            </a:r>
          </a:p>
        </p:txBody>
      </p:sp>
    </p:spTree>
    <p:extLst>
      <p:ext uri="{BB962C8B-B14F-4D97-AF65-F5344CB8AC3E}">
        <p14:creationId xmlns:p14="http://schemas.microsoft.com/office/powerpoint/2010/main" val="2236626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499F-4326-9CEB-B312-20B98F31F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7E00E-61D2-D982-4DC0-6EF078EF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142C2-E807-7770-319D-D8C3344F4FB5}"/>
              </a:ext>
            </a:extLst>
          </p:cNvPr>
          <p:cNvSpPr txBox="1"/>
          <p:nvPr/>
        </p:nvSpPr>
        <p:spPr>
          <a:xfrm>
            <a:off x="681926" y="2305448"/>
            <a:ext cx="10397641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comprehensive analysis has provided critical insights into six key business questions regarding retail sales performance, profitability, customer behavior,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3522650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9DDA-CE02-58F2-8818-0F3480CD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9463E-6164-1CD4-6A68-7D485D53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06" y="2308375"/>
            <a:ext cx="10709329" cy="438996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Increase marketing spend on high-margin, high-volume categories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Develop win-back campaigns for one-time purchasers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Implement personalized recommendations based on purchase history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Adjust staffing levels to match peak sales periods (by day and hour)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Optimize inventory stocking based on seasonal and monthly trends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Schedule promotions during slower periods to balance revenue throughout the year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Implement bulk discount strategies to increase average basket size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EBBDB41-4C9C-A683-ACE2-D3F027F0E1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4" t="13333" r="8220" b="12023"/>
          <a:stretch/>
        </p:blipFill>
        <p:spPr>
          <a:xfrm>
            <a:off x="2906974" y="2287525"/>
            <a:ext cx="6011358" cy="397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7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20853</TotalTime>
  <Words>497</Words>
  <Application>Microsoft Office PowerPoint</Application>
  <PresentationFormat>Widescreen</PresentationFormat>
  <Paragraphs>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Century Gothic</vt:lpstr>
      <vt:lpstr>Georgia</vt:lpstr>
      <vt:lpstr>Helvetica</vt:lpstr>
      <vt:lpstr>Lucida Handwriting</vt:lpstr>
      <vt:lpstr>Times New Roman</vt:lpstr>
      <vt:lpstr>Wingdings</vt:lpstr>
      <vt:lpstr>Wingdings 3</vt:lpstr>
      <vt:lpstr>Ion Boardroom</vt:lpstr>
      <vt:lpstr>Retail Sales Performance and Profitability Investigation</vt:lpstr>
      <vt:lpstr>Problem Statement</vt:lpstr>
      <vt:lpstr>Objectives </vt:lpstr>
      <vt:lpstr>Overview of data</vt:lpstr>
      <vt:lpstr>Implementation Outline</vt:lpstr>
      <vt:lpstr>KPI</vt:lpstr>
      <vt:lpstr>ANALYSIS</vt:lpstr>
      <vt:lpstr>ANALYSIS</vt:lpstr>
      <vt:lpstr>ANALYSIS</vt:lpstr>
      <vt:lpstr>ANALYSIS</vt:lpstr>
      <vt:lpstr>ANALYSIS</vt:lpstr>
      <vt:lpstr>ANALYSIS</vt:lpstr>
      <vt:lpstr>ANALYSIS</vt:lpstr>
      <vt:lpstr>ANALYSIS</vt:lpstr>
      <vt:lpstr>ANALYSIS </vt:lpstr>
      <vt:lpstr>ANALYSIS</vt:lpstr>
      <vt:lpstr>ANALYSIS</vt:lpstr>
      <vt:lpstr>ANALYSIS</vt:lpstr>
      <vt:lpstr>ANALYSIS</vt:lpstr>
      <vt:lpstr>Key Finding of Performance Dashboard</vt:lpstr>
      <vt:lpstr>CONCLUSION</vt:lpstr>
      <vt:lpstr>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Strategic Sales Analysis Report using data from Dave's Sports Warehouse</dc:title>
  <dc:creator>hp</dc:creator>
  <cp:lastModifiedBy>Saheed O. Adebiyi</cp:lastModifiedBy>
  <cp:revision>29</cp:revision>
  <dcterms:created xsi:type="dcterms:W3CDTF">2023-08-18T09:51:06Z</dcterms:created>
  <dcterms:modified xsi:type="dcterms:W3CDTF">2025-12-25T09:25:59Z</dcterms:modified>
</cp:coreProperties>
</file>